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bins are reported by phone, sorted by guesswork, collected on fixed routes. Solution: photo-and-location intake, AI waste classification, nearest-worker dispatch, optimized routes. Architecture: six independently deployable services, acyclic, no shared code or database. 6,551 lines, 41 endpoints, 47 integration checks all passing.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Sold three MIT in-house modules for $105k total. Kept the two acquired proprietary ones. The hard part: both retained modules depend on all three sold, so we structured each sale with a perpetual royalty-free licence-back — we keep running them, we lose the right to resell. Consulting slot deliberately scoped to verification, not build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discrete steps, each traced with its call, result and timing. Full pipeline runs in 241ms. degraded:null means classification and dispatch both completed. Resilience is designed: kill route_optimizer and step 4 degrades to UNORDERED with a reason rather than failing. 47 integration checks and 67 compliance checks all pass. Everything on this slide is runnable from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OMEGA6.0  ·  INTELLIGENT WASTE COLLECTION NETWORK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4708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D8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Overflowing bins get reported by phone, sorted by guesswork, and collected on fixed routes that ignore where the waste actually is.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163824"/>
            <a:ext cx="420624" cy="42062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163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" y="314553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report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339242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+ location from any phone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877056"/>
            <a:ext cx="420624" cy="42062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15568" y="38587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410565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waste types with confidence scores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590288"/>
            <a:ext cx="420624" cy="42062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590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5568" y="45720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worker dispatched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48188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sequenced, everyone notified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63640" y="1572768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SIX INDEPENDENT SERVICES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1874520"/>
            <a:ext cx="2606040" cy="804672"/>
          </a:xfrm>
          <a:prstGeom prst="roundRect">
            <a:avLst>
              <a:gd name="adj" fmla="val 9091"/>
            </a:avLst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9944" y="19842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bin_reporting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9944" y="22768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:4101   ·   in-house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52560" y="1874520"/>
            <a:ext cx="2606040" cy="804672"/>
          </a:xfrm>
          <a:prstGeom prst="roundRect">
            <a:avLst>
              <a:gd name="adj" fmla="val 9091"/>
            </a:avLst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98864" y="19842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waste_recognition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98864" y="22768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:4102   ·   in-house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2807208"/>
            <a:ext cx="2606040" cy="804672"/>
          </a:xfrm>
          <a:prstGeom prst="roundRect">
            <a:avLst>
              <a:gd name="adj" fmla="val 9091"/>
            </a:avLst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9944" y="29169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route_optimizer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9944" y="320954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:4103   ·   in-house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052560" y="2807208"/>
            <a:ext cx="2606040" cy="804672"/>
          </a:xfrm>
          <a:prstGeom prst="roundRect">
            <a:avLst>
              <a:gd name="adj" fmla="val 9091"/>
            </a:avLst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98864" y="29169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analytics_dashboard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198864" y="320954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:4104   ·   in-house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3739896"/>
            <a:ext cx="2606040" cy="804672"/>
          </a:xfrm>
          <a:prstGeom prst="roundRect">
            <a:avLst>
              <a:gd name="adj" fmla="val 9091"/>
            </a:avLst>
          </a:prstGeom>
          <a:solidFill>
            <a:srgbClr val="2A4F5E"/>
          </a:solidFill>
          <a:ln w="12700">
            <a:solidFill>
              <a:srgbClr val="5FA8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9944" y="38496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notification_system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09944" y="414223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:4105   ·   acquired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052560" y="3739896"/>
            <a:ext cx="2606040" cy="804672"/>
          </a:xfrm>
          <a:prstGeom prst="roundRect">
            <a:avLst>
              <a:gd name="adj" fmla="val 9091"/>
            </a:avLst>
          </a:prstGeom>
          <a:solidFill>
            <a:srgbClr val="2A4F5E"/>
          </a:solidFill>
          <a:ln w="12700">
            <a:solidFill>
              <a:srgbClr val="5FA8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98864" y="38496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worker_dashboard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198864" y="414223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:4106   ·   acquired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63640" y="473659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8F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Acyclic mesh. No shared code, no shared database — each service owns its data and reaches the others over HTTP.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48640" y="5623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548640" y="61447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8F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346704" y="5623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3346704" y="61447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8F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144768" y="5623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6,551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6144768" y="61447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8F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8942832" y="5623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47/47</a:t>
            </a:r>
            <a:endParaRPr lang="en-US" sz="3200" dirty="0"/>
          </a:p>
        </p:txBody>
      </p:sp>
      <p:sp>
        <p:nvSpPr>
          <p:cNvPr id="46" name="Text 44"/>
          <p:cNvSpPr/>
          <p:nvPr/>
        </p:nvSpPr>
        <p:spPr>
          <a:xfrm>
            <a:off x="8942832" y="61447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8F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8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MARKETPLACE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Traded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DIVESTED  —  3 MODULES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548640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9E4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88366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waste_recognition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21396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Stateless, model-agnostic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06240" y="19659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C98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$42,000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2523744"/>
            <a:ext cx="548640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9E4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3232" y="259689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analytics_dashboard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285292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Push-based, vertical-agnostic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06240" y="267919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C98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$35,000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3236976"/>
            <a:ext cx="548640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9E4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3232" y="331012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route_optimizer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" y="35661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computation, no state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06240" y="339242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C98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$28,000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548640" y="3986784"/>
            <a:ext cx="5486400" cy="658368"/>
          </a:xfrm>
          <a:prstGeom prst="roundRect">
            <a:avLst>
              <a:gd name="adj" fmla="val 972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15137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DIVESTMENT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40782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$105,000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6309360" y="157276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 —  2 ACQUIRED MODULES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1810512"/>
            <a:ext cx="53035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C6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73952" y="18928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worker_dashboard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73952" y="213055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7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FieldOps Crew · escrowed source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73952" y="232257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Vertical-agnostic — resells beyond waste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09360" y="2651760"/>
            <a:ext cx="53035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C6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73952" y="273405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notification_system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73952" y="29718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7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SignalPost Relay · perpetual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73952" y="316382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window closes 2027-03-14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09360" y="3493008"/>
            <a:ext cx="5303520" cy="1152144"/>
          </a:xfrm>
          <a:prstGeom prst="roundRect">
            <a:avLst>
              <a:gd name="adj" fmla="val 5556"/>
            </a:avLst>
          </a:prstGeom>
          <a:solidFill>
            <a:srgbClr val="FBF3DF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3712464"/>
            <a:ext cx="475488" cy="475488"/>
          </a:xfrm>
          <a:prstGeom prst="ellipse">
            <a:avLst/>
          </a:prstGeom>
          <a:solidFill>
            <a:srgbClr val="C98B18"/>
          </a:solidFill>
          <a:ln w="12700">
            <a:solidFill>
              <a:srgbClr val="C98B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132320" y="36758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slot — 30 minutes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132320" y="3941064"/>
            <a:ext cx="4315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verification and risk sign-off, not implementation. 30 minutes does not buy integration work — it buys an independent go/no-go before money moves.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956048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E8F1EC"/>
          </a:solidFill>
          <a:ln w="12700">
            <a:solidFill>
              <a:srgbClr val="C3DAC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51206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 we had to solve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04672" y="5394960"/>
            <a:ext cx="10561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F4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retained modules consume capabilities from all three we sold — an outright sale would have stopped the product on settlement day. Each deal conveys copyright, exploitation and resale rights while retaining a perpetual royalty-free licence-back for internal operation. Verified: repointing to buyer-hosted endpoints needs an environment variable, not a code change.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Integrated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737360" cy="1481328"/>
          </a:xfrm>
          <a:prstGeom prst="roundRect">
            <a:avLst>
              <a:gd name="adj" fmla="val 4938"/>
            </a:avLst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828800"/>
            <a:ext cx="457200" cy="45720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" y="2377440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reportBin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1792" y="277977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+ location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86000" y="2157984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423160" y="1664208"/>
            <a:ext cx="1737360" cy="1481328"/>
          </a:xfrm>
          <a:prstGeom prst="roundRect">
            <a:avLst>
              <a:gd name="adj" fmla="val 4938"/>
            </a:avLst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3240" y="1828800"/>
            <a:ext cx="457200" cy="45720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496312" y="2377440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detectWasteType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496312" y="277977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60520" y="2157984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297680" y="1664208"/>
            <a:ext cx="1737360" cy="1481328"/>
          </a:xfrm>
          <a:prstGeom prst="roundRect">
            <a:avLst>
              <a:gd name="adj" fmla="val 4938"/>
            </a:avLst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1828800"/>
            <a:ext cx="457200" cy="45720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70832" y="2377440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assignWorker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370832" y="277977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free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35040" y="2157984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172200" y="1664208"/>
            <a:ext cx="1737360" cy="1481328"/>
          </a:xfrm>
          <a:prstGeom prst="roundRect">
            <a:avLst>
              <a:gd name="adj" fmla="val 4938"/>
            </a:avLst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12280" y="1828800"/>
            <a:ext cx="457200" cy="45720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45352" y="2377440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optimizeRoute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45352" y="277977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2-opt sequence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909560" y="2157984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046720" y="1664208"/>
            <a:ext cx="1737360" cy="1481328"/>
          </a:xfrm>
          <a:prstGeom prst="roundRect">
            <a:avLst>
              <a:gd name="adj" fmla="val 4938"/>
            </a:avLst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0" y="1828800"/>
            <a:ext cx="457200" cy="45720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119872" y="2377440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notifyPickup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19872" y="277977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citizen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784080" y="2157984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921240" y="1664208"/>
            <a:ext cx="1737360" cy="1481328"/>
          </a:xfrm>
          <a:prstGeom prst="roundRect">
            <a:avLst>
              <a:gd name="adj" fmla="val 4938"/>
            </a:avLst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61320" y="1828800"/>
            <a:ext cx="457200" cy="45720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613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994392" y="2377440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updateAnalytics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994392" y="277977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8640" y="340156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TRACED, NOT SIMULATED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3712464"/>
            <a:ext cx="2615184" cy="932688"/>
          </a:xfrm>
          <a:prstGeom prst="roundRect">
            <a:avLst>
              <a:gd name="adj" fmla="val 6863"/>
            </a:avLst>
          </a:prstGeom>
          <a:solidFill>
            <a:srgbClr val="2D6A4F"/>
          </a:solidFill>
          <a:ln w="12700">
            <a:solidFill>
              <a:srgbClr val="3F7D6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4944" y="38404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241ms</a:t>
            </a:r>
            <a:endParaRPr lang="en-US" sz="2300" dirty="0"/>
          </a:p>
        </p:txBody>
      </p:sp>
      <p:sp>
        <p:nvSpPr>
          <p:cNvPr id="42" name="Text 40"/>
          <p:cNvSpPr/>
          <p:nvPr/>
        </p:nvSpPr>
        <p:spPr>
          <a:xfrm>
            <a:off x="694944" y="426110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346704" y="3712464"/>
            <a:ext cx="2615184" cy="932688"/>
          </a:xfrm>
          <a:prstGeom prst="roundRect">
            <a:avLst>
              <a:gd name="adj" fmla="val 6863"/>
            </a:avLst>
          </a:prstGeom>
          <a:solidFill>
            <a:srgbClr val="2D6A4F"/>
          </a:solidFill>
          <a:ln w="12700">
            <a:solidFill>
              <a:srgbClr val="3F7D6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93008" y="38404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degraded: null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3493008" y="426110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skipped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144768" y="3712464"/>
            <a:ext cx="2615184" cy="932688"/>
          </a:xfrm>
          <a:prstGeom prst="roundRect">
            <a:avLst>
              <a:gd name="adj" fmla="val 6863"/>
            </a:avLst>
          </a:prstGeom>
          <a:solidFill>
            <a:srgbClr val="2D6A4F"/>
          </a:solidFill>
          <a:ln w="12700">
            <a:solidFill>
              <a:srgbClr val="3F7D6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91072" y="38404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47/47</a:t>
            </a:r>
            <a:endParaRPr lang="en-US" sz="2300" dirty="0"/>
          </a:p>
        </p:txBody>
      </p:sp>
      <p:sp>
        <p:nvSpPr>
          <p:cNvPr id="48" name="Text 46"/>
          <p:cNvSpPr/>
          <p:nvPr/>
        </p:nvSpPr>
        <p:spPr>
          <a:xfrm>
            <a:off x="6291072" y="426110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checks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942832" y="3712464"/>
            <a:ext cx="2615184" cy="932688"/>
          </a:xfrm>
          <a:prstGeom prst="roundRect">
            <a:avLst>
              <a:gd name="adj" fmla="val 6863"/>
            </a:avLst>
          </a:prstGeom>
          <a:solidFill>
            <a:srgbClr val="2D6A4F"/>
          </a:solidFill>
          <a:ln w="12700">
            <a:solidFill>
              <a:srgbClr val="3F7D6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089136" y="38404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2300" dirty="0"/>
          </a:p>
        </p:txBody>
      </p:sp>
      <p:sp>
        <p:nvSpPr>
          <p:cNvPr id="51" name="Text 49"/>
          <p:cNvSpPr/>
          <p:nvPr/>
        </p:nvSpPr>
        <p:spPr>
          <a:xfrm>
            <a:off x="9089136" y="426110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48640" y="4882896"/>
            <a:ext cx="5486400" cy="1243584"/>
          </a:xfrm>
          <a:prstGeom prst="roundRect">
            <a:avLst>
              <a:gd name="adj" fmla="val 5147"/>
            </a:avLst>
          </a:prstGeom>
          <a:solidFill>
            <a:srgbClr val="153A2A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9808" y="50292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a dependency mid-flight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749808" y="5303520"/>
            <a:ext cx="5102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route_optimizer stopped, step 4 returns UNORDERED with a reason, step 5 drops its “stop 2 of 5” phrasing, and the run still completes. Degradation is designed, not accidental.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309360" y="4882896"/>
            <a:ext cx="5303520" cy="1243584"/>
          </a:xfrm>
          <a:prstGeom prst="roundRect">
            <a:avLst>
              <a:gd name="adj" fmla="val 5147"/>
            </a:avLst>
          </a:prstGeom>
          <a:solidFill>
            <a:srgbClr val="153A2A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10528" y="50292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yourself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6510528" y="53218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modules:start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510528" y="555955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workflow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510528" y="579729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compliance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Waste Collection Network</dc:title>
  <dc:subject>PptxGenJS Presentation</dc:subject>
  <dc:creator>Omega6.0 Waste Network</dc:creator>
  <cp:lastModifiedBy>Omega6.0 Waste Network</cp:lastModifiedBy>
  <cp:revision>1</cp:revision>
  <dcterms:created xsi:type="dcterms:W3CDTF">2026-08-22T01:23:14Z</dcterms:created>
  <dcterms:modified xsi:type="dcterms:W3CDTF">2026-08-22T01:23:14Z</dcterms:modified>
</cp:coreProperties>
</file>