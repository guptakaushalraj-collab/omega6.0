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 HYBRID. Kaushal Raj Gupta leads, Shuvecha Chaudhary ran the trading session, Kanishka Chaudhari and Antima Pathick Prachy on build. Our project: an Intelligent Waste Collection Network built as six independently tradable modules.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services, 41 endpoints, 47 of 47 tests green. The demo is traced, not simulated: full pipeline in 241ms with nothing skipped. Stop a dependency and the pipeline degrades gracefully instead of failing.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Trading session: we sold the three stateless, vertical-agnostic modules for $105,000 total, keeping a royalty-free licence-back so the product keeps running. We bought notification_system and worker_dashboard rather than rebuilding them, plus an AI chatbot that acts as the association and integration layer over the whole mesh.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4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7498080" cy="10607040"/>
          </a:xfrm>
          <a:prstGeom prst="roundRect">
            <a:avLst>
              <a:gd name="adj" fmla="val 6098"/>
            </a:avLst>
          </a:prstGeom>
          <a:solidFill>
            <a:srgbClr val="1B5637">
              <a:alpha val="45000"/>
            </a:srgbClr>
          </a:solidFill>
          <a:ln w="12700">
            <a:solidFill>
              <a:srgbClr val="1B563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932688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HYBRID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94944" y="1325880"/>
            <a:ext cx="5852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4F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Intelligent Waste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4F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Collection Network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15468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B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OMEGA6.0  ·  A six-module tradable platform that turns a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CB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photo into a completed pickup.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580644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KIIT University  ·  Hackathon Submission 2026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995160" y="93268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949440" y="1371600"/>
            <a:ext cx="4617720" cy="960120"/>
          </a:xfrm>
          <a:prstGeom prst="roundRect">
            <a:avLst>
              <a:gd name="adj" fmla="val 7619"/>
            </a:avLst>
          </a:prstGeom>
          <a:solidFill>
            <a:srgbClr val="1B5637"/>
          </a:solidFill>
          <a:ln w="12700">
            <a:solidFill>
              <a:srgbClr val="1B563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59752" y="1554480"/>
            <a:ext cx="594360" cy="59436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0" name="Text 8"/>
          <p:cNvSpPr/>
          <p:nvPr/>
        </p:nvSpPr>
        <p:spPr>
          <a:xfrm>
            <a:off x="7159752" y="1554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09560" y="1554480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Kaushal Raj Gupta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909560" y="18745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949440" y="2542032"/>
            <a:ext cx="4617720" cy="960120"/>
          </a:xfrm>
          <a:prstGeom prst="roundRect">
            <a:avLst>
              <a:gd name="adj" fmla="val 7619"/>
            </a:avLst>
          </a:prstGeom>
          <a:solidFill>
            <a:srgbClr val="17493D"/>
          </a:solidFill>
          <a:ln w="12700">
            <a:solidFill>
              <a:srgbClr val="1B563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59752" y="2724912"/>
            <a:ext cx="594360" cy="59436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5" name="Text 13"/>
          <p:cNvSpPr/>
          <p:nvPr/>
        </p:nvSpPr>
        <p:spPr>
          <a:xfrm>
            <a:off x="7159752" y="27249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909560" y="272491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Shuvecha Chaudhary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909560" y="304495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949440" y="3712464"/>
            <a:ext cx="4617720" cy="960120"/>
          </a:xfrm>
          <a:prstGeom prst="roundRect">
            <a:avLst>
              <a:gd name="adj" fmla="val 7619"/>
            </a:avLst>
          </a:prstGeom>
          <a:solidFill>
            <a:srgbClr val="1B5637"/>
          </a:solidFill>
          <a:ln w="12700">
            <a:solidFill>
              <a:srgbClr val="1B563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59752" y="3895344"/>
            <a:ext cx="594360" cy="59436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0" name="Text 18"/>
          <p:cNvSpPr/>
          <p:nvPr/>
        </p:nvSpPr>
        <p:spPr>
          <a:xfrm>
            <a:off x="7159752" y="389534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909560" y="3895344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Kanishka Chaudhari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909560" y="421538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949440" y="4882896"/>
            <a:ext cx="4617720" cy="960120"/>
          </a:xfrm>
          <a:prstGeom prst="roundRect">
            <a:avLst>
              <a:gd name="adj" fmla="val 7619"/>
            </a:avLst>
          </a:prstGeom>
          <a:solidFill>
            <a:srgbClr val="17493D"/>
          </a:solidFill>
          <a:ln w="12700">
            <a:solidFill>
              <a:srgbClr val="1B563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59752" y="5065776"/>
            <a:ext cx="594360" cy="59436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5" name="Text 23"/>
          <p:cNvSpPr/>
          <p:nvPr/>
        </p:nvSpPr>
        <p:spPr>
          <a:xfrm>
            <a:off x="7159752" y="506577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909560" y="5065776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Antima Pathick Prachy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909560" y="538581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4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 ·  WHAT WE BUILT AND INTEGRATED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4F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photo to a cleared bin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773936" cy="1325880"/>
          </a:xfrm>
          <a:prstGeom prst="roundRect">
            <a:avLst>
              <a:gd name="adj" fmla="val 5517"/>
            </a:avLst>
          </a:prstGeom>
          <a:solidFill>
            <a:srgbClr val="1B5637"/>
          </a:solidFill>
          <a:ln w="12700">
            <a:solidFill>
              <a:srgbClr val="1B56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847088"/>
            <a:ext cx="365760" cy="36576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847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86384" y="2304288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reportBin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86384" y="2596896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+ location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395728" y="2212848"/>
            <a:ext cx="11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496312" y="1691640"/>
            <a:ext cx="1773936" cy="1325880"/>
          </a:xfrm>
          <a:prstGeom prst="roundRect">
            <a:avLst>
              <a:gd name="adj" fmla="val 5517"/>
            </a:avLst>
          </a:prstGeom>
          <a:solidFill>
            <a:srgbClr val="1B5637"/>
          </a:solidFill>
          <a:ln w="12700">
            <a:solidFill>
              <a:srgbClr val="1B563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42616" y="1847088"/>
            <a:ext cx="365760" cy="36576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2" name="Text 10"/>
          <p:cNvSpPr/>
          <p:nvPr/>
        </p:nvSpPr>
        <p:spPr>
          <a:xfrm>
            <a:off x="2642616" y="1847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42616" y="2304288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detectWasteType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42616" y="2596896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classify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51960" y="2212848"/>
            <a:ext cx="11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52544" y="1691640"/>
            <a:ext cx="1773936" cy="1325880"/>
          </a:xfrm>
          <a:prstGeom prst="roundRect">
            <a:avLst>
              <a:gd name="adj" fmla="val 5517"/>
            </a:avLst>
          </a:prstGeom>
          <a:solidFill>
            <a:srgbClr val="1B5637"/>
          </a:solidFill>
          <a:ln w="12700">
            <a:solidFill>
              <a:srgbClr val="1B563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98848" y="1847088"/>
            <a:ext cx="365760" cy="36576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8" name="Text 16"/>
          <p:cNvSpPr/>
          <p:nvPr/>
        </p:nvSpPr>
        <p:spPr>
          <a:xfrm>
            <a:off x="4498848" y="1847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498848" y="2304288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assignWorker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498848" y="2596896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 free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08192" y="2212848"/>
            <a:ext cx="11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08776" y="1691640"/>
            <a:ext cx="1773936" cy="1325880"/>
          </a:xfrm>
          <a:prstGeom prst="roundRect">
            <a:avLst>
              <a:gd name="adj" fmla="val 5517"/>
            </a:avLst>
          </a:prstGeom>
          <a:solidFill>
            <a:srgbClr val="1B5637"/>
          </a:solidFill>
          <a:ln w="12700">
            <a:solidFill>
              <a:srgbClr val="1B563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55080" y="1847088"/>
            <a:ext cx="365760" cy="36576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4" name="Text 22"/>
          <p:cNvSpPr/>
          <p:nvPr/>
        </p:nvSpPr>
        <p:spPr>
          <a:xfrm>
            <a:off x="6355080" y="1847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55080" y="2304288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optimizeRoute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55080" y="2596896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2-opt sequence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964424" y="2212848"/>
            <a:ext cx="11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065008" y="1691640"/>
            <a:ext cx="1773936" cy="1325880"/>
          </a:xfrm>
          <a:prstGeom prst="roundRect">
            <a:avLst>
              <a:gd name="adj" fmla="val 5517"/>
            </a:avLst>
          </a:prstGeom>
          <a:solidFill>
            <a:srgbClr val="1B5637"/>
          </a:solidFill>
          <a:ln w="12700">
            <a:solidFill>
              <a:srgbClr val="1B563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11312" y="1847088"/>
            <a:ext cx="365760" cy="36576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30" name="Text 28"/>
          <p:cNvSpPr/>
          <p:nvPr/>
        </p:nvSpPr>
        <p:spPr>
          <a:xfrm>
            <a:off x="8211312" y="1847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211312" y="2304288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notifyPickup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211312" y="2596896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citizen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820656" y="2212848"/>
            <a:ext cx="11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921240" y="1691640"/>
            <a:ext cx="1773936" cy="1325880"/>
          </a:xfrm>
          <a:prstGeom prst="roundRect">
            <a:avLst>
              <a:gd name="adj" fmla="val 5517"/>
            </a:avLst>
          </a:prstGeom>
          <a:solidFill>
            <a:srgbClr val="1B5637"/>
          </a:solidFill>
          <a:ln w="12700">
            <a:solidFill>
              <a:srgbClr val="1B563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067544" y="1847088"/>
            <a:ext cx="365760" cy="36576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36" name="Text 34"/>
          <p:cNvSpPr/>
          <p:nvPr/>
        </p:nvSpPr>
        <p:spPr>
          <a:xfrm>
            <a:off x="10067544" y="1847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0067544" y="2304288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updateAnalytics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067544" y="2596896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0080" y="336499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40080" y="3712464"/>
            <a:ext cx="5394960" cy="2057400"/>
          </a:xfrm>
          <a:prstGeom prst="roundRect">
            <a:avLst>
              <a:gd name="adj" fmla="val 3556"/>
            </a:avLst>
          </a:prstGeom>
          <a:solidFill>
            <a:srgbClr val="17493D"/>
          </a:solidFill>
          <a:ln w="12700">
            <a:solidFill>
              <a:srgbClr val="1B563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41248" y="3895344"/>
            <a:ext cx="5029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F4F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independent services, one acyclic mesh.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4F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code, no shared database — each service owns its data and reaches the others over HTTP.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4F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 are declared as capabilities resolved from env vars, so any module can be sold or swapped without a code change.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6355080" y="336499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IT RUNS END TO END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355080" y="3712464"/>
            <a:ext cx="2514600" cy="932688"/>
          </a:xfrm>
          <a:prstGeom prst="roundRect">
            <a:avLst>
              <a:gd name="adj" fmla="val 7843"/>
            </a:avLst>
          </a:prstGeom>
          <a:solidFill>
            <a:srgbClr val="1B5637"/>
          </a:solidFill>
          <a:ln w="12700">
            <a:solidFill>
              <a:srgbClr val="1B563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19672" y="382219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9B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400" dirty="0"/>
          </a:p>
        </p:txBody>
      </p:sp>
      <p:sp>
        <p:nvSpPr>
          <p:cNvPr id="45" name="Text 43"/>
          <p:cNvSpPr/>
          <p:nvPr/>
        </p:nvSpPr>
        <p:spPr>
          <a:xfrm>
            <a:off x="6519672" y="42976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9052560" y="3712464"/>
            <a:ext cx="2514600" cy="932688"/>
          </a:xfrm>
          <a:prstGeom prst="roundRect">
            <a:avLst>
              <a:gd name="adj" fmla="val 7843"/>
            </a:avLst>
          </a:prstGeom>
          <a:solidFill>
            <a:srgbClr val="1B5637"/>
          </a:solidFill>
          <a:ln w="12700">
            <a:solidFill>
              <a:srgbClr val="1B563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217152" y="382219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9B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</a:t>
            </a:r>
            <a:endParaRPr lang="en-US" sz="2400" dirty="0"/>
          </a:p>
        </p:txBody>
      </p:sp>
      <p:sp>
        <p:nvSpPr>
          <p:cNvPr id="48" name="Text 46"/>
          <p:cNvSpPr/>
          <p:nvPr/>
        </p:nvSpPr>
        <p:spPr>
          <a:xfrm>
            <a:off x="9217152" y="42976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355080" y="4754880"/>
            <a:ext cx="2514600" cy="932688"/>
          </a:xfrm>
          <a:prstGeom prst="roundRect">
            <a:avLst>
              <a:gd name="adj" fmla="val 7843"/>
            </a:avLst>
          </a:prstGeom>
          <a:solidFill>
            <a:srgbClr val="1B5637"/>
          </a:solidFill>
          <a:ln w="12700">
            <a:solidFill>
              <a:srgbClr val="1B563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519672" y="486460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9B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241ms</a:t>
            </a:r>
            <a:endParaRPr lang="en-US" sz="2400" dirty="0"/>
          </a:p>
        </p:txBody>
      </p:sp>
      <p:sp>
        <p:nvSpPr>
          <p:cNvPr id="51" name="Text 49"/>
          <p:cNvSpPr/>
          <p:nvPr/>
        </p:nvSpPr>
        <p:spPr>
          <a:xfrm>
            <a:off x="6519672" y="534009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9052560" y="4754880"/>
            <a:ext cx="2514600" cy="932688"/>
          </a:xfrm>
          <a:prstGeom prst="roundRect">
            <a:avLst>
              <a:gd name="adj" fmla="val 7843"/>
            </a:avLst>
          </a:prstGeom>
          <a:solidFill>
            <a:srgbClr val="1B5637"/>
          </a:solidFill>
          <a:ln w="12700">
            <a:solidFill>
              <a:srgbClr val="1B563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217152" y="486460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9B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47/47</a:t>
            </a:r>
            <a:endParaRPr lang="en-US" sz="2400" dirty="0"/>
          </a:p>
        </p:txBody>
      </p:sp>
      <p:sp>
        <p:nvSpPr>
          <p:cNvPr id="54" name="Text 52"/>
          <p:cNvSpPr/>
          <p:nvPr/>
        </p:nvSpPr>
        <p:spPr>
          <a:xfrm>
            <a:off x="9217152" y="534009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6355080" y="589788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B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route_optimizer mid-flight and step 4 returns UNORDERED with a reason, step 5 drops its "stop 2 of 5" phrasing, and the run still completes — degradation is designed, not accidental.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640080" y="589788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modules:start   ·   npm run workflow   ·   npm run compliance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4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SESSION  ·  SOLD &amp; BOUGHT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4F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traded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  —  $105,000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3611880" cy="603504"/>
          </a:xfrm>
          <a:prstGeom prst="roundRect">
            <a:avLst>
              <a:gd name="adj" fmla="val 12121"/>
            </a:avLst>
          </a:prstGeom>
          <a:solidFill>
            <a:srgbClr val="1B5637"/>
          </a:solidFill>
          <a:ln w="12700">
            <a:solidFill>
              <a:srgbClr val="1B56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216712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F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waste_recognition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017520" y="216712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$42,000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3611880" cy="603504"/>
          </a:xfrm>
          <a:prstGeom prst="roundRect">
            <a:avLst>
              <a:gd name="adj" fmla="val 12121"/>
            </a:avLst>
          </a:prstGeom>
          <a:solidFill>
            <a:srgbClr val="1B5637"/>
          </a:solidFill>
          <a:ln w="12700">
            <a:solidFill>
              <a:srgbClr val="1B56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28986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F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analytics_dashboard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017520" y="289864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$35,000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474720"/>
            <a:ext cx="3611880" cy="603504"/>
          </a:xfrm>
          <a:prstGeom prst="roundRect">
            <a:avLst>
              <a:gd name="adj" fmla="val 12121"/>
            </a:avLst>
          </a:prstGeom>
          <a:solidFill>
            <a:srgbClr val="1B5637"/>
          </a:solidFill>
          <a:ln w="12700">
            <a:solidFill>
              <a:srgbClr val="1B56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363016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F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route_optimizer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017520" y="363016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$28,000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58368" y="44348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B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sale conveys the copyright but retains a perpetual, royalty-free licence-back — we keep running the software, we just stop owning it.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26280" y="16276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BOUGHT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26280" y="2011680"/>
            <a:ext cx="3474720" cy="603504"/>
          </a:xfrm>
          <a:prstGeom prst="roundRect">
            <a:avLst>
              <a:gd name="adj" fmla="val 12121"/>
            </a:avLst>
          </a:prstGeom>
          <a:solidFill>
            <a:srgbClr val="17493D"/>
          </a:solidFill>
          <a:ln w="12700">
            <a:solidFill>
              <a:srgbClr val="1749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90872" y="211226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F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notification_system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690872" y="2359152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SignalPost Relay 2.4.1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26280" y="2743200"/>
            <a:ext cx="3474720" cy="603504"/>
          </a:xfrm>
          <a:prstGeom prst="roundRect">
            <a:avLst>
              <a:gd name="adj" fmla="val 12121"/>
            </a:avLst>
          </a:prstGeom>
          <a:solidFill>
            <a:srgbClr val="17493D"/>
          </a:solidFill>
          <a:ln w="12700">
            <a:solidFill>
              <a:srgbClr val="1749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90872" y="284378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F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worker_dashboard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690872" y="3090672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FieldOps Crew 3.1.0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26280" y="3474720"/>
            <a:ext cx="3474720" cy="603504"/>
          </a:xfrm>
          <a:prstGeom prst="roundRect">
            <a:avLst>
              <a:gd name="adj" fmla="val 12121"/>
            </a:avLst>
          </a:prstGeom>
          <a:solidFill>
            <a:srgbClr val="25604A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90872" y="357530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 chatbot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690872" y="3822192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integration layer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44568" y="443484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B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Buying beat building: both acquired modules shipped a working API contract on day one, so the trading desk spent its budget on integration speed rather than on rewriting solved problems.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321040" y="1627632"/>
            <a:ext cx="3246120" cy="3703320"/>
          </a:xfrm>
          <a:prstGeom prst="roundRect">
            <a:avLst>
              <a:gd name="adj" fmla="val 2254"/>
            </a:avLst>
          </a:prstGeom>
          <a:solidFill>
            <a:srgbClr val="25604A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49640" y="1847088"/>
            <a:ext cx="475488" cy="475488"/>
          </a:xfrm>
          <a:prstGeom prst="ellipse">
            <a:avLst/>
          </a:prstGeom>
          <a:solidFill>
            <a:srgbClr val="E9B44C"/>
          </a:solidFill>
          <a:ln/>
        </p:spPr>
      </p:sp>
      <p:sp>
        <p:nvSpPr>
          <p:cNvPr id="28" name="Text 26"/>
          <p:cNvSpPr/>
          <p:nvPr/>
        </p:nvSpPr>
        <p:spPr>
          <a:xfrm>
            <a:off x="8549640" y="18470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098280" y="189280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chatbot we bought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522208" y="2542032"/>
            <a:ext cx="2834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4F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Sits above the mesh as a natural-language front door — "which ward is overflowing?" resolves into real calls across the six services.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4F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Associates loose citizen reports with the right bin, ward and waste type, so duplicates collapse instead of becoming extra pickups.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4F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Integrates: one conversation spans reporting, classification, routing and analytics without the user learning six APIs.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0080" y="5687568"/>
            <a:ext cx="10927080" cy="868680"/>
          </a:xfrm>
          <a:prstGeom prst="roundRect">
            <a:avLst>
              <a:gd name="adj" fmla="val 8421"/>
            </a:avLst>
          </a:prstGeom>
          <a:solidFill>
            <a:srgbClr val="1B5637"/>
          </a:solidFill>
          <a:ln w="12700">
            <a:solidFill>
              <a:srgbClr val="1B563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8680" y="5897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position: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2194560" y="5897880"/>
            <a:ext cx="9189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stateless modules divested for $105,000, two proven modules and an AI chatbot acquired — the network still runs end to end, and now it answers questions in plain English.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Intelligent Waste Collection Network</dc:title>
  <dc:subject>PptxGenJS Presentation</dc:subject>
  <dc:creator>Team HYBRID</dc:creator>
  <cp:lastModifiedBy>Team HYBRID</cp:lastModifiedBy>
  <cp:revision>1</cp:revision>
  <dcterms:created xsi:type="dcterms:W3CDTF">2026-08-22T10:49:06Z</dcterms:created>
  <dcterms:modified xsi:type="dcterms:W3CDTF">2026-08-22T10:49:06Z</dcterms:modified>
</cp:coreProperties>
</file>